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532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2" y="42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4250531" y="488138"/>
            <a:ext cx="642938" cy="51435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399323" y="1138219"/>
            <a:ext cx="4345353" cy="85725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1"/>
          <p:cNvSpPr/>
          <p:nvPr/>
        </p:nvSpPr>
        <p:spPr>
          <a:xfrm>
            <a:off x="2456444" y="1175555"/>
            <a:ext cx="4231109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 Autônomos para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2363602" y="1551087"/>
            <a:ext cx="4416791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Extração de Dados Fiscais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2590800" y="2169733"/>
            <a:ext cx="3858555" cy="207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Revolucionando o processamento fiscal com IA</a:t>
            </a:r>
            <a:endParaRPr lang="en-US" sz="1350" b="1" dirty="0"/>
          </a:p>
        </p:txBody>
      </p:sp>
      <p:sp>
        <p:nvSpPr>
          <p:cNvPr id="8" name="Shape 4"/>
          <p:cNvSpPr/>
          <p:nvPr/>
        </p:nvSpPr>
        <p:spPr>
          <a:xfrm>
            <a:off x="4229097" y="2710783"/>
            <a:ext cx="685800" cy="28575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8241" y="3186983"/>
            <a:ext cx="16073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48000" y="3163877"/>
            <a:ext cx="3205376" cy="15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</a:t>
            </a: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r>
              <a:rPr lang="en-US" sz="1013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</a:t>
            </a: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Autônomos com Redes Generativas</a:t>
            </a:r>
            <a:endParaRPr lang="en-US" sz="1013" b="1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6789" y="4579298"/>
            <a:ext cx="112514" cy="1285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61376" y="4578212"/>
            <a:ext cx="690895" cy="1558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Junho</a:t>
            </a: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2025</a:t>
            </a:r>
            <a:endParaRPr lang="en-US" sz="1013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28600"/>
            <a:ext cx="267891" cy="214313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BF17D357-E163-01C5-33DE-0C781818FA4F}"/>
              </a:ext>
            </a:extLst>
          </p:cNvPr>
          <p:cNvSpPr/>
          <p:nvPr/>
        </p:nvSpPr>
        <p:spPr>
          <a:xfrm>
            <a:off x="6253376" y="3493253"/>
            <a:ext cx="2350798" cy="779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r">
              <a:buNone/>
            </a:pPr>
            <a:r>
              <a:rPr lang="en-US" sz="1013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Integrantes</a:t>
            </a: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 Grupo C</a:t>
            </a:r>
            <a:r>
              <a:rPr lang="pt-PT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ó</a:t>
            </a:r>
            <a:r>
              <a:rPr lang="en-US" sz="1013" b="1" dirty="0" err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digo</a:t>
            </a: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</a:t>
            </a: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</a:t>
            </a:r>
          </a:p>
          <a:p>
            <a:pPr marL="0" indent="0" algn="r">
              <a:buNone/>
            </a:pPr>
            <a:endParaRPr lang="en-US" sz="1013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r">
              <a:buNone/>
            </a:pPr>
            <a:r>
              <a:rPr lang="pt-BR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Arsénio António Monjane</a:t>
            </a:r>
          </a:p>
          <a:p>
            <a:pPr marL="0" indent="0" algn="r">
              <a:buNone/>
            </a:pPr>
            <a:endParaRPr lang="pt-BR" sz="1013" dirty="0">
              <a:solidFill>
                <a:srgbClr val="FFFFFF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r">
              <a:buNone/>
            </a:pPr>
            <a:endParaRPr lang="en-US" sz="1013" dirty="0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302F40E7-1698-013C-EB45-04E4F53FE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479" y="3134416"/>
            <a:ext cx="160734" cy="128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994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452" y="457200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790652" y="446484"/>
            <a:ext cx="2091333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Problema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57200" y="925116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Processamento fiscal manual no Brasil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457200" y="1468041"/>
            <a:ext cx="2590781" cy="1000125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1468041"/>
            <a:ext cx="42863" cy="10001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4"/>
          <p:cNvSpPr/>
          <p:nvPr/>
        </p:nvSpPr>
        <p:spPr>
          <a:xfrm>
            <a:off x="628650" y="1639491"/>
            <a:ext cx="23193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23%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628650" y="1982391"/>
            <a:ext cx="2319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dos recursos de contabilidade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28650" y="2153841"/>
            <a:ext cx="231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desperdiçados em entrada manual</a:t>
            </a:r>
            <a:endParaRPr lang="en-US" sz="788" dirty="0"/>
          </a:p>
        </p:txBody>
      </p:sp>
      <p:sp>
        <p:nvSpPr>
          <p:cNvPr id="11" name="Shape 7"/>
          <p:cNvSpPr/>
          <p:nvPr/>
        </p:nvSpPr>
        <p:spPr>
          <a:xfrm>
            <a:off x="3276581" y="1468041"/>
            <a:ext cx="2590809" cy="1000125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2" name="Shape 8"/>
          <p:cNvSpPr/>
          <p:nvPr/>
        </p:nvSpPr>
        <p:spPr>
          <a:xfrm>
            <a:off x="3276581" y="1468041"/>
            <a:ext cx="42863" cy="10001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9"/>
          <p:cNvSpPr/>
          <p:nvPr/>
        </p:nvSpPr>
        <p:spPr>
          <a:xfrm>
            <a:off x="3448031" y="1639491"/>
            <a:ext cx="23193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98%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3448031" y="1982391"/>
            <a:ext cx="23193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precisão máxima OCR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48031" y="2153841"/>
            <a:ext cx="23193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= 200 erros por 10.000 caracteres</a:t>
            </a:r>
            <a:endParaRPr lang="en-US" sz="788" dirty="0"/>
          </a:p>
        </p:txBody>
      </p:sp>
      <p:sp>
        <p:nvSpPr>
          <p:cNvPr id="16" name="Shape 12"/>
          <p:cNvSpPr/>
          <p:nvPr/>
        </p:nvSpPr>
        <p:spPr>
          <a:xfrm>
            <a:off x="6095991" y="1468041"/>
            <a:ext cx="2590781" cy="1000125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7" name="Shape 13"/>
          <p:cNvSpPr/>
          <p:nvPr/>
        </p:nvSpPr>
        <p:spPr>
          <a:xfrm>
            <a:off x="6095991" y="1468041"/>
            <a:ext cx="42863" cy="100012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4"/>
          <p:cNvSpPr/>
          <p:nvPr/>
        </p:nvSpPr>
        <p:spPr>
          <a:xfrm>
            <a:off x="6267441" y="1639491"/>
            <a:ext cx="23193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25" dirty="0"/>
          </a:p>
        </p:txBody>
      </p:sp>
      <p:sp>
        <p:nvSpPr>
          <p:cNvPr id="19" name="Text 15"/>
          <p:cNvSpPr/>
          <p:nvPr/>
        </p:nvSpPr>
        <p:spPr>
          <a:xfrm>
            <a:off x="6267441" y="1982391"/>
            <a:ext cx="2319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impostos diferentes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267441" y="2153841"/>
            <a:ext cx="231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ICMS, IPI, PIS, COFINS, ISS</a:t>
            </a:r>
            <a:endParaRPr lang="en-US" sz="788" dirty="0"/>
          </a:p>
        </p:txBody>
      </p:sp>
      <p:sp>
        <p:nvSpPr>
          <p:cNvPr id="21" name="Shape 17"/>
          <p:cNvSpPr/>
          <p:nvPr/>
        </p:nvSpPr>
        <p:spPr>
          <a:xfrm>
            <a:off x="457200" y="2811066"/>
            <a:ext cx="8229600" cy="131445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" y="3039666"/>
            <a:ext cx="7843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Consequências</a:t>
            </a:r>
            <a:endParaRPr lang="en-US" sz="13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54003"/>
            <a:ext cx="142875" cy="1428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42975" y="3439716"/>
            <a:ext cx="18630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perdido em tarefas manuais</a:t>
            </a:r>
            <a:endParaRPr lang="en-US" sz="9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39753"/>
            <a:ext cx="142875" cy="14287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42975" y="3725466"/>
            <a:ext cx="145626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Alto risco de erros e multas</a:t>
            </a:r>
            <a:endParaRPr lang="en-US" sz="9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3454003"/>
            <a:ext cx="89297" cy="14287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89897" y="3439716"/>
            <a:ext cx="1596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Custos operacionais elevados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4800600" y="3725466"/>
            <a:ext cx="111353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Baixa escalabilidade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926705" y="4354116"/>
            <a:ext cx="3290562" cy="428625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1005" y="4498777"/>
            <a:ext cx="96441" cy="128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194596" y="4496991"/>
            <a:ext cx="29798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Necessidade urgente de automação inteligente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01159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9513" y="457200"/>
            <a:ext cx="257175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80988" y="446484"/>
            <a:ext cx="2624937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Nossa Solução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57200" y="925116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Sistema Multi-Agente Inteligente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2971800" y="1468041"/>
            <a:ext cx="3200400" cy="20288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109" y="1696641"/>
            <a:ext cx="535781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00400" y="2239566"/>
            <a:ext cx="28146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 Autônomos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200400" y="2525316"/>
            <a:ext cx="2814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que aprende e se adapta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3513609" y="2811066"/>
            <a:ext cx="859008" cy="200025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1" name="Text 6"/>
          <p:cNvSpPr/>
          <p:nvPr/>
        </p:nvSpPr>
        <p:spPr>
          <a:xfrm>
            <a:off x="3513609" y="2811066"/>
            <a:ext cx="930446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Avançado</a:t>
            </a:r>
            <a:endParaRPr lang="en-US" sz="788" dirty="0"/>
          </a:p>
        </p:txBody>
      </p:sp>
      <p:sp>
        <p:nvSpPr>
          <p:cNvPr id="12" name="Shape 7"/>
          <p:cNvSpPr/>
          <p:nvPr/>
        </p:nvSpPr>
        <p:spPr>
          <a:xfrm>
            <a:off x="4429767" y="2811066"/>
            <a:ext cx="777441" cy="200025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3" name="Text 8"/>
          <p:cNvSpPr/>
          <p:nvPr/>
        </p:nvSpPr>
        <p:spPr>
          <a:xfrm>
            <a:off x="4429767" y="2811066"/>
            <a:ext cx="848878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Generativa</a:t>
            </a:r>
            <a:endParaRPr lang="en-US" sz="788" dirty="0"/>
          </a:p>
        </p:txBody>
      </p:sp>
      <p:sp>
        <p:nvSpPr>
          <p:cNvPr id="14" name="Shape 9"/>
          <p:cNvSpPr/>
          <p:nvPr/>
        </p:nvSpPr>
        <p:spPr>
          <a:xfrm>
            <a:off x="5264358" y="2811066"/>
            <a:ext cx="366006" cy="200025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5" name="Text 10"/>
          <p:cNvSpPr/>
          <p:nvPr/>
        </p:nvSpPr>
        <p:spPr>
          <a:xfrm>
            <a:off x="5264358" y="2811066"/>
            <a:ext cx="437443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</a:t>
            </a:r>
            <a:endParaRPr lang="en-US" sz="788" dirty="0"/>
          </a:p>
        </p:txBody>
      </p:sp>
      <p:sp>
        <p:nvSpPr>
          <p:cNvPr id="16" name="Shape 11"/>
          <p:cNvSpPr/>
          <p:nvPr/>
        </p:nvSpPr>
        <p:spPr>
          <a:xfrm>
            <a:off x="4171197" y="3068241"/>
            <a:ext cx="801579" cy="200025"/>
          </a:xfrm>
          <a:prstGeom prst="roundRect">
            <a:avLst/>
          </a:prstGeom>
          <a:solidFill>
            <a:srgbClr val="3B82F6"/>
          </a:solidFill>
          <a:ln/>
        </p:spPr>
      </p:sp>
      <p:sp>
        <p:nvSpPr>
          <p:cNvPr id="17" name="Text 12"/>
          <p:cNvSpPr/>
          <p:nvPr/>
        </p:nvSpPr>
        <p:spPr>
          <a:xfrm>
            <a:off x="4171197" y="3068241"/>
            <a:ext cx="873016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Adaptativo</a:t>
            </a:r>
            <a:endParaRPr lang="en-US" sz="788" dirty="0"/>
          </a:p>
        </p:txBody>
      </p:sp>
      <p:sp>
        <p:nvSpPr>
          <p:cNvPr id="18" name="Shape 13"/>
          <p:cNvSpPr/>
          <p:nvPr/>
        </p:nvSpPr>
        <p:spPr>
          <a:xfrm>
            <a:off x="457200" y="3839766"/>
            <a:ext cx="4000500" cy="800100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3839766"/>
            <a:ext cx="42863" cy="8001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4025503"/>
            <a:ext cx="171450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4011216"/>
            <a:ext cx="11954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99,5%+ Precisão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628650" y="4296966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multi-etapas com IA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686300" y="3839766"/>
            <a:ext cx="4000500" cy="800100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4" name="Shape 18"/>
          <p:cNvSpPr/>
          <p:nvPr/>
        </p:nvSpPr>
        <p:spPr>
          <a:xfrm>
            <a:off x="4686300" y="3839766"/>
            <a:ext cx="42863" cy="8001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4025503"/>
            <a:ext cx="171450" cy="17145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43500" y="4011216"/>
            <a:ext cx="16142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Adaptação Automática</a:t>
            </a:r>
            <a:endParaRPr lang="en-US" sz="1125" dirty="0"/>
          </a:p>
        </p:txBody>
      </p:sp>
      <p:sp>
        <p:nvSpPr>
          <p:cNvPr id="27" name="Text 20"/>
          <p:cNvSpPr/>
          <p:nvPr/>
        </p:nvSpPr>
        <p:spPr>
          <a:xfrm>
            <a:off x="4857750" y="4296966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 novos layouts e regulamentações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457200" y="4868466"/>
            <a:ext cx="4000500" cy="800100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9" name="Shape 22"/>
          <p:cNvSpPr/>
          <p:nvPr/>
        </p:nvSpPr>
        <p:spPr>
          <a:xfrm>
            <a:off x="457200" y="4868466"/>
            <a:ext cx="42863" cy="8001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5054203"/>
            <a:ext cx="192881" cy="1714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35831" y="5039916"/>
            <a:ext cx="94877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&lt;5 segundos</a:t>
            </a:r>
            <a:endParaRPr lang="en-US" sz="1125" dirty="0"/>
          </a:p>
        </p:txBody>
      </p:sp>
      <p:sp>
        <p:nvSpPr>
          <p:cNvPr id="32" name="Text 24"/>
          <p:cNvSpPr/>
          <p:nvPr/>
        </p:nvSpPr>
        <p:spPr>
          <a:xfrm>
            <a:off x="628650" y="5325666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documento vs. 10-15s tradicional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4686300" y="4868466"/>
            <a:ext cx="4000500" cy="800100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4" name="Shape 26"/>
          <p:cNvSpPr/>
          <p:nvPr/>
        </p:nvSpPr>
        <p:spPr>
          <a:xfrm>
            <a:off x="4686300" y="4868466"/>
            <a:ext cx="42863" cy="8001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5054203"/>
            <a:ext cx="171450" cy="17145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143500" y="5039916"/>
            <a:ext cx="14101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Conformidade Total</a:t>
            </a:r>
            <a:endParaRPr lang="en-US" sz="1125" dirty="0"/>
          </a:p>
        </p:txBody>
      </p:sp>
      <p:sp>
        <p:nvSpPr>
          <p:cNvPr id="37" name="Text 28"/>
          <p:cNvSpPr/>
          <p:nvPr/>
        </p:nvSpPr>
        <p:spPr>
          <a:xfrm>
            <a:off x="4857750" y="5325666"/>
            <a:ext cx="3729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automática de todos os impostos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1639574" y="6011466"/>
            <a:ext cx="5864823" cy="54292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1024" y="6206133"/>
            <a:ext cx="160734" cy="142875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2028909" y="6202561"/>
            <a:ext cx="5375477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Primeira solução brasileira com agentes autônomos para documentos fiscais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1157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725" y="457200"/>
            <a:ext cx="385763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56788" y="446484"/>
            <a:ext cx="200192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Arquitetura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57200" y="925116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de Agentes Especializados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2514600" y="1410891"/>
            <a:ext cx="1600200" cy="1200150"/>
          </a:xfrm>
          <a:prstGeom prst="rect">
            <a:avLst/>
          </a:prstGeom>
          <a:solidFill>
            <a:srgbClr val="F1F5F9"/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259" y="1582341"/>
            <a:ext cx="192881" cy="2571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86050" y="1925241"/>
            <a:ext cx="1328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</a:t>
            </a:r>
            <a:endParaRPr lang="en-US" sz="1013" dirty="0"/>
          </a:p>
        </p:txBody>
      </p:sp>
      <p:sp>
        <p:nvSpPr>
          <p:cNvPr id="9" name="Text 4"/>
          <p:cNvSpPr/>
          <p:nvPr/>
        </p:nvSpPr>
        <p:spPr>
          <a:xfrm>
            <a:off x="2686050" y="2125266"/>
            <a:ext cx="13287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PDFs, Imagens, Escaneados</a:t>
            </a:r>
            <a:endParaRPr lang="en-US" sz="788" dirty="0"/>
          </a:p>
        </p:txBody>
      </p:sp>
      <p:sp>
        <p:nvSpPr>
          <p:cNvPr id="10" name="Shape 5"/>
          <p:cNvSpPr/>
          <p:nvPr/>
        </p:nvSpPr>
        <p:spPr>
          <a:xfrm>
            <a:off x="5029200" y="1468041"/>
            <a:ext cx="1600200" cy="1057275"/>
          </a:xfrm>
          <a:prstGeom prst="rect">
            <a:avLst/>
          </a:prstGeom>
          <a:solidFill>
            <a:srgbClr val="F1F5F9"/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0713" y="1653778"/>
            <a:ext cx="257175" cy="2571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00650" y="1996678"/>
            <a:ext cx="1328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</a:t>
            </a:r>
            <a:endParaRPr lang="en-US" sz="1013" dirty="0"/>
          </a:p>
        </p:txBody>
      </p:sp>
      <p:sp>
        <p:nvSpPr>
          <p:cNvPr id="13" name="Text 7"/>
          <p:cNvSpPr/>
          <p:nvPr/>
        </p:nvSpPr>
        <p:spPr>
          <a:xfrm>
            <a:off x="5200650" y="2196703"/>
            <a:ext cx="1328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+ Layout</a:t>
            </a:r>
            <a:endParaRPr lang="en-US" sz="788" dirty="0"/>
          </a:p>
        </p:txBody>
      </p:sp>
      <p:sp>
        <p:nvSpPr>
          <p:cNvPr id="14" name="Shape 8"/>
          <p:cNvSpPr/>
          <p:nvPr/>
        </p:nvSpPr>
        <p:spPr>
          <a:xfrm>
            <a:off x="2286000" y="2811066"/>
            <a:ext cx="1600200" cy="1057275"/>
          </a:xfrm>
          <a:prstGeom prst="rect">
            <a:avLst/>
          </a:prstGeom>
          <a:solidFill>
            <a:srgbClr val="F1F5F9"/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7513" y="2982516"/>
            <a:ext cx="257175" cy="2571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457450" y="3325416"/>
            <a:ext cx="1328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Extração</a:t>
            </a:r>
            <a:endParaRPr lang="en-US" sz="1013" dirty="0"/>
          </a:p>
        </p:txBody>
      </p:sp>
      <p:sp>
        <p:nvSpPr>
          <p:cNvPr id="17" name="Text 10"/>
          <p:cNvSpPr/>
          <p:nvPr/>
        </p:nvSpPr>
        <p:spPr>
          <a:xfrm>
            <a:off x="2457450" y="3525441"/>
            <a:ext cx="1328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+ IA Generativa</a:t>
            </a:r>
            <a:endParaRPr lang="en-US" sz="788" dirty="0"/>
          </a:p>
        </p:txBody>
      </p:sp>
      <p:sp>
        <p:nvSpPr>
          <p:cNvPr id="18" name="Shape 11"/>
          <p:cNvSpPr/>
          <p:nvPr/>
        </p:nvSpPr>
        <p:spPr>
          <a:xfrm>
            <a:off x="5257800" y="2811066"/>
            <a:ext cx="1600200" cy="1028700"/>
          </a:xfrm>
          <a:prstGeom prst="rect">
            <a:avLst/>
          </a:prstGeom>
          <a:solidFill>
            <a:srgbClr val="F1F5F9"/>
          </a:solidFill>
          <a:ln w="198">
            <a:solidFill>
              <a:srgbClr val="3B82F6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429250" y="3239691"/>
            <a:ext cx="1328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</a:t>
            </a:r>
            <a:endParaRPr lang="en-US" sz="1013" dirty="0"/>
          </a:p>
        </p:txBody>
      </p:sp>
      <p:sp>
        <p:nvSpPr>
          <p:cNvPr id="20" name="Text 13"/>
          <p:cNvSpPr/>
          <p:nvPr/>
        </p:nvSpPr>
        <p:spPr>
          <a:xfrm>
            <a:off x="5429250" y="3439716"/>
            <a:ext cx="1328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Conformidade + Verificação</a:t>
            </a:r>
            <a:endParaRPr lang="en-US" sz="788" dirty="0"/>
          </a:p>
        </p:txBody>
      </p:sp>
      <p:sp>
        <p:nvSpPr>
          <p:cNvPr id="21" name="Shape 14"/>
          <p:cNvSpPr/>
          <p:nvPr/>
        </p:nvSpPr>
        <p:spPr>
          <a:xfrm>
            <a:off x="2514600" y="4068366"/>
            <a:ext cx="1600200" cy="1057275"/>
          </a:xfrm>
          <a:prstGeom prst="rect">
            <a:avLst/>
          </a:prstGeom>
          <a:solidFill>
            <a:srgbClr val="F1F5F9"/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3966" y="4254103"/>
            <a:ext cx="321469" cy="2571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686050" y="4597003"/>
            <a:ext cx="1328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</a:t>
            </a:r>
            <a:endParaRPr lang="en-US" sz="1013" dirty="0"/>
          </a:p>
        </p:txBody>
      </p:sp>
      <p:sp>
        <p:nvSpPr>
          <p:cNvPr id="24" name="Text 16"/>
          <p:cNvSpPr/>
          <p:nvPr/>
        </p:nvSpPr>
        <p:spPr>
          <a:xfrm>
            <a:off x="2686050" y="4797028"/>
            <a:ext cx="1328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Adaptação Contínua</a:t>
            </a:r>
            <a:endParaRPr lang="en-US" sz="788" dirty="0"/>
          </a:p>
        </p:txBody>
      </p:sp>
      <p:sp>
        <p:nvSpPr>
          <p:cNvPr id="25" name="Shape 17"/>
          <p:cNvSpPr/>
          <p:nvPr/>
        </p:nvSpPr>
        <p:spPr>
          <a:xfrm>
            <a:off x="5029200" y="4068366"/>
            <a:ext cx="1600200" cy="1057275"/>
          </a:xfrm>
          <a:prstGeom prst="rect">
            <a:avLst/>
          </a:prstGeom>
          <a:solidFill>
            <a:srgbClr val="F1F5F9"/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32859" y="4239816"/>
            <a:ext cx="192881" cy="2571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200650" y="4582716"/>
            <a:ext cx="13287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</a:t>
            </a:r>
            <a:endParaRPr lang="en-US" sz="1013" dirty="0"/>
          </a:p>
        </p:txBody>
      </p:sp>
      <p:sp>
        <p:nvSpPr>
          <p:cNvPr id="28" name="Text 19"/>
          <p:cNvSpPr/>
          <p:nvPr/>
        </p:nvSpPr>
        <p:spPr>
          <a:xfrm>
            <a:off x="5200650" y="4782741"/>
            <a:ext cx="1328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+ Sistemas</a:t>
            </a:r>
            <a:endParaRPr lang="en-US" sz="788" dirty="0"/>
          </a:p>
        </p:txBody>
      </p:sp>
      <p:sp>
        <p:nvSpPr>
          <p:cNvPr id="29" name="Shape 20"/>
          <p:cNvSpPr/>
          <p:nvPr/>
        </p:nvSpPr>
        <p:spPr>
          <a:xfrm>
            <a:off x="457200" y="5439966"/>
            <a:ext cx="8229600" cy="928688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52005" y="5611416"/>
            <a:ext cx="267891" cy="214313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28650" y="5882878"/>
            <a:ext cx="2586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</a:t>
            </a:r>
            <a:endParaRPr lang="en-US" sz="900" dirty="0"/>
          </a:p>
        </p:txBody>
      </p:sp>
      <p:sp>
        <p:nvSpPr>
          <p:cNvPr id="32" name="Text 22"/>
          <p:cNvSpPr/>
          <p:nvPr/>
        </p:nvSpPr>
        <p:spPr>
          <a:xfrm>
            <a:off x="628650" y="6054328"/>
            <a:ext cx="2586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Componentes independentes</a:t>
            </a:r>
            <a:endParaRPr lang="en-US" sz="788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8238" y="5611416"/>
            <a:ext cx="187523" cy="214313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3314700" y="5882878"/>
            <a:ext cx="2586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Escalável</a:t>
            </a:r>
            <a:endParaRPr lang="en-US" sz="900" dirty="0"/>
          </a:p>
        </p:txBody>
      </p:sp>
      <p:sp>
        <p:nvSpPr>
          <p:cNvPr id="35" name="Text 24"/>
          <p:cNvSpPr/>
          <p:nvPr/>
        </p:nvSpPr>
        <p:spPr>
          <a:xfrm>
            <a:off x="3314700" y="6054328"/>
            <a:ext cx="2586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Processamento distribuído</a:t>
            </a:r>
            <a:endParaRPr lang="en-US" sz="788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50894" y="5611416"/>
            <a:ext cx="214313" cy="214313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000750" y="5882878"/>
            <a:ext cx="25860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Adaptativo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6000750" y="6054328"/>
            <a:ext cx="2586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 contínuo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2571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310" y="457200"/>
            <a:ext cx="385763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02373" y="446484"/>
            <a:ext cx="2110755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Diferenciais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57200" y="925116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Vantagens vs. OCR Tradicional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457200" y="1410891"/>
            <a:ext cx="8229600" cy="20288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1410891"/>
            <a:ext cx="2743200" cy="40005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410891"/>
            <a:ext cx="2814638" cy="4000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00400" y="1410891"/>
            <a:ext cx="2743200" cy="400050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0" name="Text 6"/>
          <p:cNvSpPr/>
          <p:nvPr/>
        </p:nvSpPr>
        <p:spPr>
          <a:xfrm>
            <a:off x="3200400" y="1410891"/>
            <a:ext cx="2814638" cy="4000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Tradicional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943600" y="1410891"/>
            <a:ext cx="2743200" cy="400050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12" name="Text 8"/>
          <p:cNvSpPr/>
          <p:nvPr/>
        </p:nvSpPr>
        <p:spPr>
          <a:xfrm>
            <a:off x="5943600" y="1410891"/>
            <a:ext cx="2814638" cy="4000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 Autônomos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57200" y="1810941"/>
            <a:ext cx="2743200" cy="40719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221099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181094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Precisão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200400" y="1810941"/>
            <a:ext cx="2743200" cy="407194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17" name="Shape 13"/>
          <p:cNvSpPr/>
          <p:nvPr/>
        </p:nvSpPr>
        <p:spPr>
          <a:xfrm>
            <a:off x="3200400" y="221099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8" name="Text 14"/>
          <p:cNvSpPr/>
          <p:nvPr/>
        </p:nvSpPr>
        <p:spPr>
          <a:xfrm>
            <a:off x="3200400" y="181094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98-99%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943600" y="1810941"/>
            <a:ext cx="2743200" cy="40719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0" name="Shape 16"/>
          <p:cNvSpPr/>
          <p:nvPr/>
        </p:nvSpPr>
        <p:spPr>
          <a:xfrm>
            <a:off x="5943600" y="221099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1" name="Text 17"/>
          <p:cNvSpPr/>
          <p:nvPr/>
        </p:nvSpPr>
        <p:spPr>
          <a:xfrm>
            <a:off x="5943600" y="181094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99,5%+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57200" y="2210991"/>
            <a:ext cx="2743200" cy="40719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261104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221099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Adaptação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200400" y="2210991"/>
            <a:ext cx="2743200" cy="407194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26" name="Shape 22"/>
          <p:cNvSpPr/>
          <p:nvPr/>
        </p:nvSpPr>
        <p:spPr>
          <a:xfrm>
            <a:off x="3200400" y="261104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7" name="Text 23"/>
          <p:cNvSpPr/>
          <p:nvPr/>
        </p:nvSpPr>
        <p:spPr>
          <a:xfrm>
            <a:off x="3200400" y="221099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 fixos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943600" y="2210991"/>
            <a:ext cx="2743200" cy="40719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9" name="Shape 25"/>
          <p:cNvSpPr/>
          <p:nvPr/>
        </p:nvSpPr>
        <p:spPr>
          <a:xfrm>
            <a:off x="5943600" y="261104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Text 26"/>
          <p:cNvSpPr/>
          <p:nvPr/>
        </p:nvSpPr>
        <p:spPr>
          <a:xfrm>
            <a:off x="5943600" y="221099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Automática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57200" y="2611041"/>
            <a:ext cx="2743200" cy="40719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2" name="Shape 28"/>
          <p:cNvSpPr/>
          <p:nvPr/>
        </p:nvSpPr>
        <p:spPr>
          <a:xfrm>
            <a:off x="457200" y="301109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3" name="Text 29"/>
          <p:cNvSpPr/>
          <p:nvPr/>
        </p:nvSpPr>
        <p:spPr>
          <a:xfrm>
            <a:off x="457200" y="261104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Velocidade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200400" y="2611041"/>
            <a:ext cx="2743200" cy="407194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35" name="Shape 31"/>
          <p:cNvSpPr/>
          <p:nvPr/>
        </p:nvSpPr>
        <p:spPr>
          <a:xfrm>
            <a:off x="3200400" y="301109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Text 32"/>
          <p:cNvSpPr/>
          <p:nvPr/>
        </p:nvSpPr>
        <p:spPr>
          <a:xfrm>
            <a:off x="3200400" y="261104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10-15 seg/doc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5943600" y="2611041"/>
            <a:ext cx="2743200" cy="40719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8" name="Shape 34"/>
          <p:cNvSpPr/>
          <p:nvPr/>
        </p:nvSpPr>
        <p:spPr>
          <a:xfrm>
            <a:off x="5943600" y="301109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Text 35"/>
          <p:cNvSpPr/>
          <p:nvPr/>
        </p:nvSpPr>
        <p:spPr>
          <a:xfrm>
            <a:off x="5943600" y="261104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&lt;5 seg/doc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457200" y="3011091"/>
            <a:ext cx="2743200" cy="407194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1" name="Shape 37"/>
          <p:cNvSpPr/>
          <p:nvPr/>
        </p:nvSpPr>
        <p:spPr>
          <a:xfrm>
            <a:off x="457200" y="341114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2" name="Text 38"/>
          <p:cNvSpPr/>
          <p:nvPr/>
        </p:nvSpPr>
        <p:spPr>
          <a:xfrm>
            <a:off x="457200" y="301109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Manutenção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3200400" y="3011091"/>
            <a:ext cx="2743200" cy="407194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44" name="Shape 40"/>
          <p:cNvSpPr/>
          <p:nvPr/>
        </p:nvSpPr>
        <p:spPr>
          <a:xfrm>
            <a:off x="3200400" y="3411141"/>
            <a:ext cx="2743200" cy="7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5" name="Text 41"/>
          <p:cNvSpPr/>
          <p:nvPr/>
        </p:nvSpPr>
        <p:spPr>
          <a:xfrm>
            <a:off x="3200400" y="3011091"/>
            <a:ext cx="2814638" cy="40719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B91C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5943600" y="3011091"/>
            <a:ext cx="2743200" cy="400050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47" name="Text 43"/>
          <p:cNvSpPr/>
          <p:nvPr/>
        </p:nvSpPr>
        <p:spPr>
          <a:xfrm>
            <a:off x="5943600" y="3011091"/>
            <a:ext cx="2814638" cy="4000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Automática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457200" y="3639741"/>
            <a:ext cx="1928813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5"/>
          <p:cNvSpPr/>
          <p:nvPr/>
        </p:nvSpPr>
        <p:spPr>
          <a:xfrm>
            <a:off x="628650" y="3811191"/>
            <a:ext cx="1657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1688" dirty="0"/>
          </a:p>
        </p:txBody>
      </p:sp>
      <p:sp>
        <p:nvSpPr>
          <p:cNvPr id="50" name="Text 46"/>
          <p:cNvSpPr/>
          <p:nvPr/>
        </p:nvSpPr>
        <p:spPr>
          <a:xfrm>
            <a:off x="628650" y="4125516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Redução de tempo</a:t>
            </a:r>
            <a:endParaRPr lang="en-US" sz="900" dirty="0"/>
          </a:p>
        </p:txBody>
      </p:sp>
      <p:sp>
        <p:nvSpPr>
          <p:cNvPr id="51" name="Shape 47"/>
          <p:cNvSpPr/>
          <p:nvPr/>
        </p:nvSpPr>
        <p:spPr>
          <a:xfrm>
            <a:off x="2557463" y="3639741"/>
            <a:ext cx="1928813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8"/>
          <p:cNvSpPr/>
          <p:nvPr/>
        </p:nvSpPr>
        <p:spPr>
          <a:xfrm>
            <a:off x="2728913" y="3811191"/>
            <a:ext cx="1657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endParaRPr lang="en-US" sz="1688" dirty="0"/>
          </a:p>
        </p:txBody>
      </p:sp>
      <p:sp>
        <p:nvSpPr>
          <p:cNvPr id="53" name="Text 49"/>
          <p:cNvSpPr/>
          <p:nvPr/>
        </p:nvSpPr>
        <p:spPr>
          <a:xfrm>
            <a:off x="2728913" y="4125516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Menos erros</a:t>
            </a:r>
            <a:endParaRPr lang="en-US" sz="900" dirty="0"/>
          </a:p>
        </p:txBody>
      </p:sp>
      <p:sp>
        <p:nvSpPr>
          <p:cNvPr id="54" name="Shape 50"/>
          <p:cNvSpPr/>
          <p:nvPr/>
        </p:nvSpPr>
        <p:spPr>
          <a:xfrm>
            <a:off x="4657725" y="3639741"/>
            <a:ext cx="1928813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1"/>
          <p:cNvSpPr/>
          <p:nvPr/>
        </p:nvSpPr>
        <p:spPr>
          <a:xfrm>
            <a:off x="4829175" y="3811191"/>
            <a:ext cx="1657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60%</a:t>
            </a:r>
            <a:endParaRPr lang="en-US" sz="1688" dirty="0"/>
          </a:p>
        </p:txBody>
      </p:sp>
      <p:sp>
        <p:nvSpPr>
          <p:cNvPr id="56" name="Text 52"/>
          <p:cNvSpPr/>
          <p:nvPr/>
        </p:nvSpPr>
        <p:spPr>
          <a:xfrm>
            <a:off x="4829175" y="4125516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Menor custo</a:t>
            </a:r>
            <a:endParaRPr lang="en-US" sz="900" dirty="0"/>
          </a:p>
        </p:txBody>
      </p:sp>
      <p:sp>
        <p:nvSpPr>
          <p:cNvPr id="57" name="Shape 53"/>
          <p:cNvSpPr/>
          <p:nvPr/>
        </p:nvSpPr>
        <p:spPr>
          <a:xfrm>
            <a:off x="6757988" y="3639741"/>
            <a:ext cx="1928813" cy="8286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4"/>
          <p:cNvSpPr/>
          <p:nvPr/>
        </p:nvSpPr>
        <p:spPr>
          <a:xfrm>
            <a:off x="6929438" y="3811191"/>
            <a:ext cx="1657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</a:t>
            </a:r>
            <a:endParaRPr lang="en-US" sz="1688" dirty="0"/>
          </a:p>
        </p:txBody>
      </p:sp>
      <p:sp>
        <p:nvSpPr>
          <p:cNvPr id="59" name="Text 55"/>
          <p:cNvSpPr/>
          <p:nvPr/>
        </p:nvSpPr>
        <p:spPr>
          <a:xfrm>
            <a:off x="6929438" y="4125516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Config. manual</a:t>
            </a:r>
            <a:endParaRPr lang="en-US" sz="900" dirty="0"/>
          </a:p>
        </p:txBody>
      </p:sp>
      <p:sp>
        <p:nvSpPr>
          <p:cNvPr id="60" name="Shape 56"/>
          <p:cNvSpPr/>
          <p:nvPr/>
        </p:nvSpPr>
        <p:spPr>
          <a:xfrm>
            <a:off x="2208256" y="4697016"/>
            <a:ext cx="4727460" cy="542925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6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9706" y="4891683"/>
            <a:ext cx="142875" cy="142875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2579731" y="4888111"/>
            <a:ext cx="4255973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Pioneirismo: Primeira solução brasileira com esta tecnologia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69726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711" y="457200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47911" y="446484"/>
            <a:ext cx="1576815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57200" y="925116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Público-alvo e Oportunidade de R$ 2B+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457200" y="1410891"/>
            <a:ext cx="2590781" cy="1628775"/>
          </a:xfrm>
          <a:prstGeom prst="rect">
            <a:avLst/>
          </a:prstGeom>
          <a:solidFill>
            <a:srgbClr val="F8FAFC"/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6150" y="1582341"/>
            <a:ext cx="192881" cy="2571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650" y="1953816"/>
            <a:ext cx="23193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Empresas</a:t>
            </a:r>
            <a:endParaRPr lang="en-US" sz="1125" dirty="0"/>
          </a:p>
        </p:txBody>
      </p:sp>
      <p:sp>
        <p:nvSpPr>
          <p:cNvPr id="9" name="Text 4"/>
          <p:cNvSpPr/>
          <p:nvPr/>
        </p:nvSpPr>
        <p:spPr>
          <a:xfrm>
            <a:off x="628650" y="2210991"/>
            <a:ext cx="2319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Médio/Grande Porte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628650" y="2439591"/>
            <a:ext cx="231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500+ docs fiscais/mês</a:t>
            </a:r>
            <a:endParaRPr lang="en-US" sz="788" dirty="0"/>
          </a:p>
        </p:txBody>
      </p:sp>
      <p:sp>
        <p:nvSpPr>
          <p:cNvPr id="11" name="Shape 6"/>
          <p:cNvSpPr/>
          <p:nvPr/>
        </p:nvSpPr>
        <p:spPr>
          <a:xfrm>
            <a:off x="1256295" y="2689622"/>
            <a:ext cx="547948" cy="151805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7"/>
          <p:cNvSpPr/>
          <p:nvPr/>
        </p:nvSpPr>
        <p:spPr>
          <a:xfrm>
            <a:off x="1256295" y="2689622"/>
            <a:ext cx="619385" cy="15180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Manufatura</a:t>
            </a:r>
            <a:endParaRPr lang="en-US" sz="675" dirty="0"/>
          </a:p>
        </p:txBody>
      </p:sp>
      <p:sp>
        <p:nvSpPr>
          <p:cNvPr id="13" name="Shape 8"/>
          <p:cNvSpPr/>
          <p:nvPr/>
        </p:nvSpPr>
        <p:spPr>
          <a:xfrm>
            <a:off x="1893150" y="2689622"/>
            <a:ext cx="355736" cy="151805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9"/>
          <p:cNvSpPr/>
          <p:nvPr/>
        </p:nvSpPr>
        <p:spPr>
          <a:xfrm>
            <a:off x="1893150" y="2689622"/>
            <a:ext cx="427174" cy="15180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Varejo</a:t>
            </a:r>
            <a:endParaRPr lang="en-US" sz="675" dirty="0"/>
          </a:p>
        </p:txBody>
      </p:sp>
      <p:sp>
        <p:nvSpPr>
          <p:cNvPr id="15" name="Shape 10"/>
          <p:cNvSpPr/>
          <p:nvPr/>
        </p:nvSpPr>
        <p:spPr>
          <a:xfrm>
            <a:off x="3276581" y="1410891"/>
            <a:ext cx="2590809" cy="1628775"/>
          </a:xfrm>
          <a:prstGeom prst="rect">
            <a:avLst/>
          </a:prstGeom>
          <a:solidFill>
            <a:srgbClr val="F8FAFC"/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531" y="1582341"/>
            <a:ext cx="192881" cy="2571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48031" y="1953816"/>
            <a:ext cx="23193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Contabilidade</a:t>
            </a:r>
            <a:endParaRPr lang="en-US" sz="1125" dirty="0"/>
          </a:p>
        </p:txBody>
      </p:sp>
      <p:sp>
        <p:nvSpPr>
          <p:cNvPr id="18" name="Text 12"/>
          <p:cNvSpPr/>
          <p:nvPr/>
        </p:nvSpPr>
        <p:spPr>
          <a:xfrm>
            <a:off x="3448031" y="2210991"/>
            <a:ext cx="23193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Empresas de Serviços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448031" y="2439591"/>
            <a:ext cx="23193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Múltiplos clientes</a:t>
            </a:r>
            <a:endParaRPr lang="en-US" sz="788" dirty="0"/>
          </a:p>
        </p:txBody>
      </p:sp>
      <p:sp>
        <p:nvSpPr>
          <p:cNvPr id="20" name="Shape 14"/>
          <p:cNvSpPr/>
          <p:nvPr/>
        </p:nvSpPr>
        <p:spPr>
          <a:xfrm>
            <a:off x="4105898" y="2689622"/>
            <a:ext cx="547920" cy="15180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1" name="Text 15"/>
          <p:cNvSpPr/>
          <p:nvPr/>
        </p:nvSpPr>
        <p:spPr>
          <a:xfrm>
            <a:off x="4105898" y="2689622"/>
            <a:ext cx="619358" cy="15180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Consultoria</a:t>
            </a:r>
            <a:endParaRPr lang="en-US" sz="675" dirty="0"/>
          </a:p>
        </p:txBody>
      </p:sp>
      <p:sp>
        <p:nvSpPr>
          <p:cNvPr id="22" name="Shape 16"/>
          <p:cNvSpPr/>
          <p:nvPr/>
        </p:nvSpPr>
        <p:spPr>
          <a:xfrm>
            <a:off x="4742724" y="2689622"/>
            <a:ext cx="295349" cy="151805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3" name="Text 17"/>
          <p:cNvSpPr/>
          <p:nvPr/>
        </p:nvSpPr>
        <p:spPr>
          <a:xfrm>
            <a:off x="4742724" y="2689622"/>
            <a:ext cx="366787" cy="15180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BPO</a:t>
            </a:r>
            <a:endParaRPr lang="en-US" sz="675" dirty="0"/>
          </a:p>
        </p:txBody>
      </p:sp>
      <p:sp>
        <p:nvSpPr>
          <p:cNvPr id="24" name="Shape 18"/>
          <p:cNvSpPr/>
          <p:nvPr/>
        </p:nvSpPr>
        <p:spPr>
          <a:xfrm>
            <a:off x="6095991" y="1410891"/>
            <a:ext cx="2590781" cy="1628775"/>
          </a:xfrm>
          <a:prstGeom prst="rect">
            <a:avLst/>
          </a:prstGeom>
          <a:solidFill>
            <a:srgbClr val="F8FAFC"/>
          </a:solidFill>
          <a:ln w="198">
            <a:solidFill>
              <a:srgbClr val="3B82F6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0647" y="1582341"/>
            <a:ext cx="321469" cy="2571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267441" y="1953816"/>
            <a:ext cx="23193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</a:t>
            </a:r>
            <a:endParaRPr lang="en-US" sz="1125" dirty="0"/>
          </a:p>
        </p:txBody>
      </p:sp>
      <p:sp>
        <p:nvSpPr>
          <p:cNvPr id="27" name="Text 20"/>
          <p:cNvSpPr/>
          <p:nvPr/>
        </p:nvSpPr>
        <p:spPr>
          <a:xfrm>
            <a:off x="6267441" y="2210991"/>
            <a:ext cx="23193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Fornecedores ERP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6267441" y="2439591"/>
            <a:ext cx="23193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Integração API</a:t>
            </a:r>
            <a:endParaRPr lang="en-US" sz="788" dirty="0"/>
          </a:p>
        </p:txBody>
      </p:sp>
      <p:sp>
        <p:nvSpPr>
          <p:cNvPr id="29" name="Shape 22"/>
          <p:cNvSpPr/>
          <p:nvPr/>
        </p:nvSpPr>
        <p:spPr>
          <a:xfrm>
            <a:off x="6987229" y="2689622"/>
            <a:ext cx="290578" cy="151805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0" name="Text 23"/>
          <p:cNvSpPr/>
          <p:nvPr/>
        </p:nvSpPr>
        <p:spPr>
          <a:xfrm>
            <a:off x="6987229" y="2689622"/>
            <a:ext cx="362015" cy="15180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</a:t>
            </a:r>
            <a:endParaRPr lang="en-US" sz="675" dirty="0"/>
          </a:p>
        </p:txBody>
      </p:sp>
      <p:sp>
        <p:nvSpPr>
          <p:cNvPr id="31" name="Shape 24"/>
          <p:cNvSpPr/>
          <p:nvPr/>
        </p:nvSpPr>
        <p:spPr>
          <a:xfrm>
            <a:off x="7366713" y="2689622"/>
            <a:ext cx="428820" cy="151805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2" name="Text 25"/>
          <p:cNvSpPr/>
          <p:nvPr/>
        </p:nvSpPr>
        <p:spPr>
          <a:xfrm>
            <a:off x="7366713" y="2689622"/>
            <a:ext cx="500258" cy="151805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marL="0" indent="0" algn="ctr">
              <a:buNone/>
            </a:pPr>
            <a:r>
              <a:rPr lang="en-US" sz="675" dirty="0">
                <a:solidFill>
                  <a:srgbClr val="5B21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Contábil</a:t>
            </a:r>
            <a:endParaRPr lang="en-US" sz="675" dirty="0"/>
          </a:p>
        </p:txBody>
      </p:sp>
      <p:sp>
        <p:nvSpPr>
          <p:cNvPr id="33" name="Shape 26"/>
          <p:cNvSpPr/>
          <p:nvPr/>
        </p:nvSpPr>
        <p:spPr>
          <a:xfrm>
            <a:off x="457200" y="3353991"/>
            <a:ext cx="82296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27"/>
          <p:cNvSpPr/>
          <p:nvPr/>
        </p:nvSpPr>
        <p:spPr>
          <a:xfrm>
            <a:off x="685800" y="3582591"/>
            <a:ext cx="7843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Mercado Brasileiro</a:t>
            </a: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685800" y="3982641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6M+</a:t>
            </a:r>
            <a:endParaRPr lang="en-US" sz="2025" dirty="0"/>
          </a:p>
        </p:txBody>
      </p:sp>
      <p:sp>
        <p:nvSpPr>
          <p:cNvPr id="36" name="Text 29"/>
          <p:cNvSpPr/>
          <p:nvPr/>
        </p:nvSpPr>
        <p:spPr>
          <a:xfrm>
            <a:off x="685800" y="4325541"/>
            <a:ext cx="1885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Empresas ativas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2671763" y="3982641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150M+</a:t>
            </a:r>
            <a:endParaRPr lang="en-US" sz="2025" dirty="0"/>
          </a:p>
        </p:txBody>
      </p:sp>
      <p:sp>
        <p:nvSpPr>
          <p:cNvPr id="38" name="Text 31"/>
          <p:cNvSpPr/>
          <p:nvPr/>
        </p:nvSpPr>
        <p:spPr>
          <a:xfrm>
            <a:off x="2671763" y="4325541"/>
            <a:ext cx="1885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 fiscais/ano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657725" y="3982641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R$ 2B+</a:t>
            </a:r>
            <a:endParaRPr lang="en-US" sz="2025" dirty="0"/>
          </a:p>
        </p:txBody>
      </p:sp>
      <p:sp>
        <p:nvSpPr>
          <p:cNvPr id="40" name="Text 33"/>
          <p:cNvSpPr/>
          <p:nvPr/>
        </p:nvSpPr>
        <p:spPr>
          <a:xfrm>
            <a:off x="4657725" y="4325541"/>
            <a:ext cx="1885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 processamento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6643688" y="3982641"/>
            <a:ext cx="1885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23%</a:t>
            </a:r>
            <a:endParaRPr lang="en-US" sz="2025" dirty="0"/>
          </a:p>
        </p:txBody>
      </p:sp>
      <p:sp>
        <p:nvSpPr>
          <p:cNvPr id="42" name="Text 35"/>
          <p:cNvSpPr/>
          <p:nvPr/>
        </p:nvSpPr>
        <p:spPr>
          <a:xfrm>
            <a:off x="6643688" y="4325541"/>
            <a:ext cx="1885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desperdiçados</a:t>
            </a:r>
            <a:endParaRPr lang="en-US" sz="900" dirty="0"/>
          </a:p>
        </p:txBody>
      </p:sp>
      <p:sp>
        <p:nvSpPr>
          <p:cNvPr id="43" name="Shape 36"/>
          <p:cNvSpPr/>
          <p:nvPr/>
        </p:nvSpPr>
        <p:spPr>
          <a:xfrm>
            <a:off x="457200" y="4954191"/>
            <a:ext cx="2628900" cy="600075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44" name="Shape 37"/>
          <p:cNvSpPr/>
          <p:nvPr/>
        </p:nvSpPr>
        <p:spPr>
          <a:xfrm>
            <a:off x="457200" y="4954191"/>
            <a:ext cx="28575" cy="60007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093494"/>
            <a:ext cx="114300" cy="1143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42950" y="5089922"/>
            <a:ext cx="120868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Reforma Fiscal 2025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571500" y="5297091"/>
            <a:ext cx="2471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Consolidação de impostos</a:t>
            </a:r>
            <a:endParaRPr lang="en-US" sz="788" dirty="0"/>
          </a:p>
        </p:txBody>
      </p:sp>
      <p:sp>
        <p:nvSpPr>
          <p:cNvPr id="48" name="Shape 40"/>
          <p:cNvSpPr/>
          <p:nvPr/>
        </p:nvSpPr>
        <p:spPr>
          <a:xfrm>
            <a:off x="3257550" y="4954191"/>
            <a:ext cx="2628900" cy="600075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49" name="Shape 41"/>
          <p:cNvSpPr/>
          <p:nvPr/>
        </p:nvSpPr>
        <p:spPr>
          <a:xfrm>
            <a:off x="3257550" y="4954191"/>
            <a:ext cx="28575" cy="60007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1850" y="5093494"/>
            <a:ext cx="142875" cy="114300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3571875" y="5089922"/>
            <a:ext cx="130367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Transformação Digital</a:t>
            </a:r>
            <a:endParaRPr lang="en-US" sz="900" dirty="0"/>
          </a:p>
        </p:txBody>
      </p:sp>
      <p:sp>
        <p:nvSpPr>
          <p:cNvPr id="52" name="Text 43"/>
          <p:cNvSpPr/>
          <p:nvPr/>
        </p:nvSpPr>
        <p:spPr>
          <a:xfrm>
            <a:off x="3371850" y="5297091"/>
            <a:ext cx="2471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Aceleração pós-pandemia</a:t>
            </a:r>
            <a:endParaRPr lang="en-US" sz="788" dirty="0"/>
          </a:p>
        </p:txBody>
      </p:sp>
      <p:sp>
        <p:nvSpPr>
          <p:cNvPr id="53" name="Shape 44"/>
          <p:cNvSpPr/>
          <p:nvPr/>
        </p:nvSpPr>
        <p:spPr>
          <a:xfrm>
            <a:off x="6057900" y="4954191"/>
            <a:ext cx="2628900" cy="600075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54" name="Shape 45"/>
          <p:cNvSpPr/>
          <p:nvPr/>
        </p:nvSpPr>
        <p:spPr>
          <a:xfrm>
            <a:off x="6057900" y="4954191"/>
            <a:ext cx="28575" cy="600075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5093494"/>
            <a:ext cx="114300" cy="114300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343650" y="5089922"/>
            <a:ext cx="128442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Rigoroso</a:t>
            </a:r>
            <a:endParaRPr lang="en-US" sz="900" dirty="0"/>
          </a:p>
        </p:txBody>
      </p:sp>
      <p:sp>
        <p:nvSpPr>
          <p:cNvPr id="57" name="Text 47"/>
          <p:cNvSpPr/>
          <p:nvPr/>
        </p:nvSpPr>
        <p:spPr>
          <a:xfrm>
            <a:off x="6172200" y="5297091"/>
            <a:ext cx="24717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Multas por erros fiscais</a:t>
            </a:r>
            <a:endParaRPr lang="en-US" sz="788" dirty="0"/>
          </a:p>
        </p:txBody>
      </p:sp>
      <p:sp>
        <p:nvSpPr>
          <p:cNvPr id="58" name="Shape 48"/>
          <p:cNvSpPr/>
          <p:nvPr/>
        </p:nvSpPr>
        <p:spPr>
          <a:xfrm>
            <a:off x="3110796" y="5782866"/>
            <a:ext cx="2922380" cy="428625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25096" y="5927527"/>
            <a:ext cx="128588" cy="12858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3410834" y="5925741"/>
            <a:ext cx="2579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Momento ideal para entrada no mercado</a:t>
            </a:r>
            <a:endParaRPr lang="en-US" sz="101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40153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4682" y="457200"/>
            <a:ext cx="385763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54744" y="446484"/>
            <a:ext cx="300601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57200" y="925116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Cronograma de 4 Fases em 12 Meses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457200" y="1410891"/>
            <a:ext cx="8229600" cy="2857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3"/>
          <p:cNvSpPr/>
          <p:nvPr/>
        </p:nvSpPr>
        <p:spPr>
          <a:xfrm>
            <a:off x="457200" y="1553766"/>
            <a:ext cx="506564" cy="257175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1553766"/>
            <a:ext cx="578002" cy="25717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7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Mês 3</a:t>
            </a:r>
            <a:endParaRPr lang="en-US" sz="788" dirty="0"/>
          </a:p>
        </p:txBody>
      </p:sp>
      <p:sp>
        <p:nvSpPr>
          <p:cNvPr id="9" name="Shape 5"/>
          <p:cNvSpPr/>
          <p:nvPr/>
        </p:nvSpPr>
        <p:spPr>
          <a:xfrm>
            <a:off x="3012988" y="1553766"/>
            <a:ext cx="506564" cy="257175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0" name="Text 6"/>
          <p:cNvSpPr/>
          <p:nvPr/>
        </p:nvSpPr>
        <p:spPr>
          <a:xfrm>
            <a:off x="3012988" y="1553766"/>
            <a:ext cx="578002" cy="25717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7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Mês 6</a:t>
            </a:r>
            <a:endParaRPr lang="en-US" sz="788" dirty="0"/>
          </a:p>
        </p:txBody>
      </p:sp>
      <p:sp>
        <p:nvSpPr>
          <p:cNvPr id="11" name="Shape 7"/>
          <p:cNvSpPr/>
          <p:nvPr/>
        </p:nvSpPr>
        <p:spPr>
          <a:xfrm>
            <a:off x="5568776" y="1553766"/>
            <a:ext cx="506564" cy="257175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2" name="Text 8"/>
          <p:cNvSpPr/>
          <p:nvPr/>
        </p:nvSpPr>
        <p:spPr>
          <a:xfrm>
            <a:off x="5568776" y="1553766"/>
            <a:ext cx="578002" cy="25717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7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Mês 9</a:t>
            </a:r>
            <a:endParaRPr lang="en-US" sz="788" dirty="0"/>
          </a:p>
        </p:txBody>
      </p:sp>
      <p:sp>
        <p:nvSpPr>
          <p:cNvPr id="13" name="Shape 9"/>
          <p:cNvSpPr/>
          <p:nvPr/>
        </p:nvSpPr>
        <p:spPr>
          <a:xfrm>
            <a:off x="8124565" y="1553766"/>
            <a:ext cx="562208" cy="257175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14" name="Text 10"/>
          <p:cNvSpPr/>
          <p:nvPr/>
        </p:nvSpPr>
        <p:spPr>
          <a:xfrm>
            <a:off x="8124565" y="1553766"/>
            <a:ext cx="633645" cy="25717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marL="0" indent="0" algn="ctr">
              <a:buNone/>
            </a:pPr>
            <a:r>
              <a:rPr lang="en-US" sz="7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Mês 12</a:t>
            </a:r>
            <a:endParaRPr lang="en-US" sz="788" dirty="0"/>
          </a:p>
        </p:txBody>
      </p:sp>
      <p:sp>
        <p:nvSpPr>
          <p:cNvPr id="15" name="Shape 11"/>
          <p:cNvSpPr/>
          <p:nvPr/>
        </p:nvSpPr>
        <p:spPr>
          <a:xfrm>
            <a:off x="457200" y="2153841"/>
            <a:ext cx="4000500" cy="131445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2153841"/>
            <a:ext cx="42863" cy="13144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Shape 13"/>
          <p:cNvSpPr/>
          <p:nvPr/>
        </p:nvSpPr>
        <p:spPr>
          <a:xfrm>
            <a:off x="628650" y="2325291"/>
            <a:ext cx="482817" cy="200025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8" name="Text 14"/>
          <p:cNvSpPr/>
          <p:nvPr/>
        </p:nvSpPr>
        <p:spPr>
          <a:xfrm>
            <a:off x="628650" y="2325291"/>
            <a:ext cx="554255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1</a:t>
            </a:r>
            <a:endParaRPr lang="en-US" sz="788" dirty="0"/>
          </a:p>
        </p:txBody>
      </p:sp>
      <p:sp>
        <p:nvSpPr>
          <p:cNvPr id="19" name="Text 15"/>
          <p:cNvSpPr/>
          <p:nvPr/>
        </p:nvSpPr>
        <p:spPr>
          <a:xfrm>
            <a:off x="1197192" y="2325291"/>
            <a:ext cx="7461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Fundação</a:t>
            </a:r>
            <a:endParaRPr lang="en-US" sz="1125" dirty="0"/>
          </a:p>
        </p:txBody>
      </p:sp>
      <p:sp>
        <p:nvSpPr>
          <p:cNvPr id="20" name="Text 16"/>
          <p:cNvSpPr/>
          <p:nvPr/>
        </p:nvSpPr>
        <p:spPr>
          <a:xfrm>
            <a:off x="628650" y="2611041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Meses 1-3</a:t>
            </a:r>
            <a:endParaRPr lang="en-US" sz="788" dirty="0"/>
          </a:p>
        </p:txBody>
      </p:sp>
      <p:sp>
        <p:nvSpPr>
          <p:cNvPr id="21" name="Text 17"/>
          <p:cNvSpPr/>
          <p:nvPr/>
        </p:nvSpPr>
        <p:spPr>
          <a:xfrm>
            <a:off x="628650" y="281106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Arquitetura multi-agente</a:t>
            </a:r>
            <a:endParaRPr lang="en-US" sz="788" dirty="0"/>
          </a:p>
        </p:txBody>
      </p:sp>
      <p:sp>
        <p:nvSpPr>
          <p:cNvPr id="22" name="Text 18"/>
          <p:cNvSpPr/>
          <p:nvPr/>
        </p:nvSpPr>
        <p:spPr>
          <a:xfrm>
            <a:off x="628650" y="298251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OCR básico + análise layout</a:t>
            </a:r>
            <a:endParaRPr lang="en-US" sz="788" dirty="0"/>
          </a:p>
        </p:txBody>
      </p:sp>
      <p:sp>
        <p:nvSpPr>
          <p:cNvPr id="23" name="Text 19"/>
          <p:cNvSpPr/>
          <p:nvPr/>
        </p:nvSpPr>
        <p:spPr>
          <a:xfrm>
            <a:off x="628650" y="315396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Framework de testes</a:t>
            </a:r>
            <a:endParaRPr lang="en-US" sz="788" dirty="0"/>
          </a:p>
        </p:txBody>
      </p:sp>
      <p:sp>
        <p:nvSpPr>
          <p:cNvPr id="24" name="Shape 20"/>
          <p:cNvSpPr/>
          <p:nvPr/>
        </p:nvSpPr>
        <p:spPr>
          <a:xfrm>
            <a:off x="4686300" y="2153841"/>
            <a:ext cx="4000500" cy="131445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Shape 21"/>
          <p:cNvSpPr/>
          <p:nvPr/>
        </p:nvSpPr>
        <p:spPr>
          <a:xfrm>
            <a:off x="4686300" y="2153841"/>
            <a:ext cx="42863" cy="13144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Shape 22"/>
          <p:cNvSpPr/>
          <p:nvPr/>
        </p:nvSpPr>
        <p:spPr>
          <a:xfrm>
            <a:off x="4857750" y="2325291"/>
            <a:ext cx="482817" cy="200025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27" name="Text 23"/>
          <p:cNvSpPr/>
          <p:nvPr/>
        </p:nvSpPr>
        <p:spPr>
          <a:xfrm>
            <a:off x="4857750" y="2325291"/>
            <a:ext cx="554255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2</a:t>
            </a:r>
            <a:endParaRPr lang="en-US" sz="788" dirty="0"/>
          </a:p>
        </p:txBody>
      </p:sp>
      <p:sp>
        <p:nvSpPr>
          <p:cNvPr id="28" name="Text 24"/>
          <p:cNvSpPr/>
          <p:nvPr/>
        </p:nvSpPr>
        <p:spPr>
          <a:xfrm>
            <a:off x="5426292" y="2325291"/>
            <a:ext cx="9131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Avançada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4857750" y="2611041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Meses 4-6</a:t>
            </a:r>
            <a:endParaRPr lang="en-US" sz="788" dirty="0"/>
          </a:p>
        </p:txBody>
      </p:sp>
      <p:sp>
        <p:nvSpPr>
          <p:cNvPr id="30" name="Text 26"/>
          <p:cNvSpPr/>
          <p:nvPr/>
        </p:nvSpPr>
        <p:spPr>
          <a:xfrm>
            <a:off x="4857750" y="281106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Redes generativas</a:t>
            </a:r>
            <a:endParaRPr lang="en-US" sz="788" dirty="0"/>
          </a:p>
        </p:txBody>
      </p:sp>
      <p:sp>
        <p:nvSpPr>
          <p:cNvPr id="31" name="Text 27"/>
          <p:cNvSpPr/>
          <p:nvPr/>
        </p:nvSpPr>
        <p:spPr>
          <a:xfrm>
            <a:off x="4857750" y="298251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Validação multi-etapas</a:t>
            </a:r>
            <a:endParaRPr lang="en-US" sz="788" dirty="0"/>
          </a:p>
        </p:txBody>
      </p:sp>
      <p:sp>
        <p:nvSpPr>
          <p:cNvPr id="32" name="Text 28"/>
          <p:cNvSpPr/>
          <p:nvPr/>
        </p:nvSpPr>
        <p:spPr>
          <a:xfrm>
            <a:off x="4857750" y="315396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Base conhecimento fiscal</a:t>
            </a:r>
            <a:endParaRPr lang="en-US" sz="788" dirty="0"/>
          </a:p>
        </p:txBody>
      </p:sp>
      <p:sp>
        <p:nvSpPr>
          <p:cNvPr id="33" name="Shape 29"/>
          <p:cNvSpPr/>
          <p:nvPr/>
        </p:nvSpPr>
        <p:spPr>
          <a:xfrm>
            <a:off x="457200" y="3696891"/>
            <a:ext cx="4000500" cy="131445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Shape 30"/>
          <p:cNvSpPr/>
          <p:nvPr/>
        </p:nvSpPr>
        <p:spPr>
          <a:xfrm>
            <a:off x="457200" y="3696891"/>
            <a:ext cx="42863" cy="13144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Shape 31"/>
          <p:cNvSpPr/>
          <p:nvPr/>
        </p:nvSpPr>
        <p:spPr>
          <a:xfrm>
            <a:off x="628650" y="3868341"/>
            <a:ext cx="482817" cy="200025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36" name="Text 32"/>
          <p:cNvSpPr/>
          <p:nvPr/>
        </p:nvSpPr>
        <p:spPr>
          <a:xfrm>
            <a:off x="628650" y="3868341"/>
            <a:ext cx="554255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3</a:t>
            </a:r>
            <a:endParaRPr lang="en-US" sz="788" dirty="0"/>
          </a:p>
        </p:txBody>
      </p:sp>
      <p:sp>
        <p:nvSpPr>
          <p:cNvPr id="37" name="Text 33"/>
          <p:cNvSpPr/>
          <p:nvPr/>
        </p:nvSpPr>
        <p:spPr>
          <a:xfrm>
            <a:off x="1197192" y="3868341"/>
            <a:ext cx="93664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Aprendizado</a:t>
            </a:r>
            <a:endParaRPr lang="en-US" sz="1125" dirty="0"/>
          </a:p>
        </p:txBody>
      </p:sp>
      <p:sp>
        <p:nvSpPr>
          <p:cNvPr id="38" name="Text 34"/>
          <p:cNvSpPr/>
          <p:nvPr/>
        </p:nvSpPr>
        <p:spPr>
          <a:xfrm>
            <a:off x="628650" y="4154091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Meses 7-9</a:t>
            </a:r>
            <a:endParaRPr lang="en-US" sz="788" dirty="0"/>
          </a:p>
        </p:txBody>
      </p:sp>
      <p:sp>
        <p:nvSpPr>
          <p:cNvPr id="39" name="Text 35"/>
          <p:cNvSpPr/>
          <p:nvPr/>
        </p:nvSpPr>
        <p:spPr>
          <a:xfrm>
            <a:off x="628650" y="435411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Adaptação automática</a:t>
            </a:r>
            <a:endParaRPr lang="en-US" sz="788" dirty="0"/>
          </a:p>
        </p:txBody>
      </p:sp>
      <p:sp>
        <p:nvSpPr>
          <p:cNvPr id="40" name="Text 36"/>
          <p:cNvSpPr/>
          <p:nvPr/>
        </p:nvSpPr>
        <p:spPr>
          <a:xfrm>
            <a:off x="628650" y="452556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Gestão regulamentar</a:t>
            </a:r>
            <a:endParaRPr lang="en-US" sz="788" dirty="0"/>
          </a:p>
        </p:txBody>
      </p:sp>
      <p:sp>
        <p:nvSpPr>
          <p:cNvPr id="41" name="Text 37"/>
          <p:cNvSpPr/>
          <p:nvPr/>
        </p:nvSpPr>
        <p:spPr>
          <a:xfrm>
            <a:off x="628650" y="469701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Otimização performance</a:t>
            </a:r>
            <a:endParaRPr lang="en-US" sz="788" dirty="0"/>
          </a:p>
        </p:txBody>
      </p:sp>
      <p:sp>
        <p:nvSpPr>
          <p:cNvPr id="42" name="Shape 38"/>
          <p:cNvSpPr/>
          <p:nvPr/>
        </p:nvSpPr>
        <p:spPr>
          <a:xfrm>
            <a:off x="4686300" y="3696891"/>
            <a:ext cx="4000500" cy="131445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3" name="Shape 39"/>
          <p:cNvSpPr/>
          <p:nvPr/>
        </p:nvSpPr>
        <p:spPr>
          <a:xfrm>
            <a:off x="4686300" y="3696891"/>
            <a:ext cx="42863" cy="131445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4" name="Shape 40"/>
          <p:cNvSpPr/>
          <p:nvPr/>
        </p:nvSpPr>
        <p:spPr>
          <a:xfrm>
            <a:off x="4857750" y="3868341"/>
            <a:ext cx="482817" cy="200025"/>
          </a:xfrm>
          <a:prstGeom prst="roundRect">
            <a:avLst/>
          </a:prstGeom>
          <a:solidFill>
            <a:srgbClr val="DC2626"/>
          </a:solidFill>
          <a:ln/>
        </p:spPr>
      </p:sp>
      <p:sp>
        <p:nvSpPr>
          <p:cNvPr id="45" name="Text 41"/>
          <p:cNvSpPr/>
          <p:nvPr/>
        </p:nvSpPr>
        <p:spPr>
          <a:xfrm>
            <a:off x="4857750" y="3868341"/>
            <a:ext cx="554255" cy="200025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ctr">
            <a:spAutoFit/>
          </a:bodyPr>
          <a:lstStyle/>
          <a:p>
            <a:pPr marL="0" indent="0">
              <a:buNone/>
            </a:pPr>
            <a:r>
              <a:rPr lang="en-US" sz="7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4</a:t>
            </a:r>
            <a:endParaRPr lang="en-US" sz="788" dirty="0"/>
          </a:p>
        </p:txBody>
      </p:sp>
      <p:sp>
        <p:nvSpPr>
          <p:cNvPr id="46" name="Text 42"/>
          <p:cNvSpPr/>
          <p:nvPr/>
        </p:nvSpPr>
        <p:spPr>
          <a:xfrm>
            <a:off x="5426292" y="3868341"/>
            <a:ext cx="9051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Implantação</a:t>
            </a:r>
            <a:endParaRPr lang="en-US" sz="1125" dirty="0"/>
          </a:p>
        </p:txBody>
      </p:sp>
      <p:sp>
        <p:nvSpPr>
          <p:cNvPr id="47" name="Text 43"/>
          <p:cNvSpPr/>
          <p:nvPr/>
        </p:nvSpPr>
        <p:spPr>
          <a:xfrm>
            <a:off x="4857750" y="4154091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Meses 10-12</a:t>
            </a:r>
            <a:endParaRPr lang="en-US" sz="788" dirty="0"/>
          </a:p>
        </p:txBody>
      </p:sp>
      <p:sp>
        <p:nvSpPr>
          <p:cNvPr id="48" name="Text 44"/>
          <p:cNvSpPr/>
          <p:nvPr/>
        </p:nvSpPr>
        <p:spPr>
          <a:xfrm>
            <a:off x="4857750" y="435411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Testes piloto</a:t>
            </a:r>
            <a:endParaRPr lang="en-US" sz="788" dirty="0"/>
          </a:p>
        </p:txBody>
      </p:sp>
      <p:sp>
        <p:nvSpPr>
          <p:cNvPr id="49" name="Text 45"/>
          <p:cNvSpPr/>
          <p:nvPr/>
        </p:nvSpPr>
        <p:spPr>
          <a:xfrm>
            <a:off x="4857750" y="452556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Validação performance</a:t>
            </a:r>
            <a:endParaRPr lang="en-US" sz="788" dirty="0"/>
          </a:p>
        </p:txBody>
      </p:sp>
      <p:sp>
        <p:nvSpPr>
          <p:cNvPr id="50" name="Text 46"/>
          <p:cNvSpPr/>
          <p:nvPr/>
        </p:nvSpPr>
        <p:spPr>
          <a:xfrm>
            <a:off x="4857750" y="4697016"/>
            <a:ext cx="3729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Documentação completa</a:t>
            </a:r>
            <a:endParaRPr lang="en-US" sz="788" dirty="0"/>
          </a:p>
        </p:txBody>
      </p:sp>
      <p:sp>
        <p:nvSpPr>
          <p:cNvPr id="51" name="Shape 47"/>
          <p:cNvSpPr/>
          <p:nvPr/>
        </p:nvSpPr>
        <p:spPr>
          <a:xfrm>
            <a:off x="457200" y="5239941"/>
            <a:ext cx="8229600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48"/>
          <p:cNvSpPr/>
          <p:nvPr/>
        </p:nvSpPr>
        <p:spPr>
          <a:xfrm>
            <a:off x="628650" y="5411391"/>
            <a:ext cx="7958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Recursos Necessários</a:t>
            </a:r>
            <a:endParaRPr lang="en-US" sz="1125" dirty="0"/>
          </a:p>
        </p:txBody>
      </p:sp>
      <p:pic>
        <p:nvPicPr>
          <p:cNvPr id="5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6248" y="5725716"/>
            <a:ext cx="267891" cy="214313"/>
          </a:xfrm>
          <a:prstGeom prst="rect">
            <a:avLst/>
          </a:prstGeom>
        </p:spPr>
      </p:pic>
      <p:sp>
        <p:nvSpPr>
          <p:cNvPr id="54" name="Text 49"/>
          <p:cNvSpPr/>
          <p:nvPr/>
        </p:nvSpPr>
        <p:spPr>
          <a:xfrm>
            <a:off x="628650" y="5997178"/>
            <a:ext cx="1914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Equipe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628650" y="6168628"/>
            <a:ext cx="1914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especialistas + 10 estudantes</a:t>
            </a:r>
            <a:endParaRPr lang="en-US" sz="788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7575" y="5725716"/>
            <a:ext cx="214313" cy="214313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2643188" y="5997178"/>
            <a:ext cx="1914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Infraestrutura</a:t>
            </a:r>
            <a:endParaRPr lang="en-US" sz="900" dirty="0"/>
          </a:p>
        </p:txBody>
      </p:sp>
      <p:sp>
        <p:nvSpPr>
          <p:cNvPr id="58" name="Text 52"/>
          <p:cNvSpPr/>
          <p:nvPr/>
        </p:nvSpPr>
        <p:spPr>
          <a:xfrm>
            <a:off x="2643188" y="6168628"/>
            <a:ext cx="1914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servers + Cloud</a:t>
            </a:r>
            <a:endParaRPr lang="en-US" sz="788" dirty="0"/>
          </a:p>
        </p:txBody>
      </p:sp>
      <p:pic>
        <p:nvPicPr>
          <p:cNvPr id="5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2296" y="5725716"/>
            <a:ext cx="133945" cy="214313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4657725" y="5997178"/>
            <a:ext cx="1914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Orçamento</a:t>
            </a:r>
            <a:endParaRPr lang="en-US" sz="900" dirty="0"/>
          </a:p>
        </p:txBody>
      </p:sp>
      <p:sp>
        <p:nvSpPr>
          <p:cNvPr id="61" name="Text 54"/>
          <p:cNvSpPr/>
          <p:nvPr/>
        </p:nvSpPr>
        <p:spPr>
          <a:xfrm>
            <a:off x="4657725" y="6168628"/>
            <a:ext cx="1914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$150-200K / 12 meses</a:t>
            </a:r>
            <a:endParaRPr lang="en-US" sz="788" dirty="0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9861" y="5725716"/>
            <a:ext cx="267891" cy="214313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6672263" y="5997178"/>
            <a:ext cx="19145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Parcerias</a:t>
            </a:r>
            <a:endParaRPr lang="en-US" sz="900" dirty="0"/>
          </a:p>
        </p:txBody>
      </p:sp>
      <p:sp>
        <p:nvSpPr>
          <p:cNvPr id="64" name="Text 56"/>
          <p:cNvSpPr/>
          <p:nvPr/>
        </p:nvSpPr>
        <p:spPr>
          <a:xfrm>
            <a:off x="6672263" y="6168628"/>
            <a:ext cx="19145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Empresas piloto</a:t>
            </a:r>
            <a:endParaRPr lang="en-US" sz="7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55451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627" y="457200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28827" y="446484"/>
            <a:ext cx="201498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57200" y="925116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Métricas de Sucesso e ROI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457200" y="1410891"/>
            <a:ext cx="1928813" cy="1228725"/>
          </a:xfrm>
          <a:prstGeom prst="rect">
            <a:avLst/>
          </a:prstGeom>
          <a:solidFill>
            <a:srgbClr val="F9FAFB"/>
          </a:solidFill>
          <a:ln w="198">
            <a:solidFill>
              <a:srgbClr val="10B981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3019" y="1582341"/>
            <a:ext cx="257175" cy="2571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8650" y="1925241"/>
            <a:ext cx="1657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99,5%+</a:t>
            </a:r>
            <a:endParaRPr lang="en-US" sz="2025" dirty="0"/>
          </a:p>
        </p:txBody>
      </p:sp>
      <p:sp>
        <p:nvSpPr>
          <p:cNvPr id="9" name="Text 4"/>
          <p:cNvSpPr/>
          <p:nvPr/>
        </p:nvSpPr>
        <p:spPr>
          <a:xfrm>
            <a:off x="628650" y="2268141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Precisão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2557463" y="1410891"/>
            <a:ext cx="1928813" cy="1228725"/>
          </a:xfrm>
          <a:prstGeom prst="rect">
            <a:avLst/>
          </a:prstGeom>
          <a:solidFill>
            <a:srgbClr val="F9FAFB"/>
          </a:solidFill>
          <a:ln w="198">
            <a:solidFill>
              <a:srgbClr val="10B981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7208" y="1582341"/>
            <a:ext cx="289322" cy="2571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28913" y="1925241"/>
            <a:ext cx="1657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&lt;5s</a:t>
            </a:r>
            <a:endParaRPr lang="en-US" sz="2025" dirty="0"/>
          </a:p>
        </p:txBody>
      </p:sp>
      <p:sp>
        <p:nvSpPr>
          <p:cNvPr id="13" name="Text 7"/>
          <p:cNvSpPr/>
          <p:nvPr/>
        </p:nvSpPr>
        <p:spPr>
          <a:xfrm>
            <a:off x="2728913" y="2268141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documento</a:t>
            </a:r>
            <a:endParaRPr lang="en-US" sz="900" dirty="0"/>
          </a:p>
        </p:txBody>
      </p:sp>
      <p:sp>
        <p:nvSpPr>
          <p:cNvPr id="14" name="Shape 8"/>
          <p:cNvSpPr/>
          <p:nvPr/>
        </p:nvSpPr>
        <p:spPr>
          <a:xfrm>
            <a:off x="4657725" y="1410891"/>
            <a:ext cx="1928813" cy="1228725"/>
          </a:xfrm>
          <a:prstGeom prst="rect">
            <a:avLst/>
          </a:prstGeom>
          <a:solidFill>
            <a:srgbClr val="F9FAFB"/>
          </a:solidFill>
          <a:ln w="198">
            <a:solidFill>
              <a:srgbClr val="10B981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5691" y="1582341"/>
            <a:ext cx="192881" cy="2571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829175" y="1925241"/>
            <a:ext cx="1657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2025" dirty="0"/>
          </a:p>
        </p:txBody>
      </p:sp>
      <p:sp>
        <p:nvSpPr>
          <p:cNvPr id="17" name="Text 10"/>
          <p:cNvSpPr/>
          <p:nvPr/>
        </p:nvSpPr>
        <p:spPr>
          <a:xfrm>
            <a:off x="4829175" y="2268141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Redução custos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757988" y="1410891"/>
            <a:ext cx="1928813" cy="1200150"/>
          </a:xfrm>
          <a:prstGeom prst="rect">
            <a:avLst/>
          </a:prstGeom>
          <a:solidFill>
            <a:srgbClr val="F9FAFB"/>
          </a:solidFill>
          <a:ln w="198">
            <a:solidFill>
              <a:srgbClr val="10B981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929438" y="1753791"/>
            <a:ext cx="1657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99,9%</a:t>
            </a:r>
            <a:endParaRPr lang="en-US" sz="2025" dirty="0"/>
          </a:p>
        </p:txBody>
      </p:sp>
      <p:sp>
        <p:nvSpPr>
          <p:cNvPr id="20" name="Text 13"/>
          <p:cNvSpPr/>
          <p:nvPr/>
        </p:nvSpPr>
        <p:spPr>
          <a:xfrm>
            <a:off x="6929438" y="2096691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Conformidade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457200" y="2953941"/>
            <a:ext cx="3943350" cy="29432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5"/>
          <p:cNvSpPr/>
          <p:nvPr/>
        </p:nvSpPr>
        <p:spPr>
          <a:xfrm>
            <a:off x="628650" y="3125391"/>
            <a:ext cx="36718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Timeline</a:t>
            </a:r>
            <a:endParaRPr lang="en-US" sz="1125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3439716"/>
            <a:ext cx="3600450" cy="142875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28650" y="4982766"/>
            <a:ext cx="3600450" cy="3429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17"/>
          <p:cNvSpPr/>
          <p:nvPr/>
        </p:nvSpPr>
        <p:spPr>
          <a:xfrm>
            <a:off x="714375" y="5068491"/>
            <a:ext cx="35004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positivo em 18 meses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4743450" y="2953941"/>
            <a:ext cx="40147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125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Benefícios Estratégicos</a:t>
            </a:r>
            <a:endParaRPr lang="en-US" sz="1125" dirty="0"/>
          </a:p>
        </p:txBody>
      </p:sp>
      <p:sp>
        <p:nvSpPr>
          <p:cNvPr id="27" name="Shape 19"/>
          <p:cNvSpPr/>
          <p:nvPr/>
        </p:nvSpPr>
        <p:spPr>
          <a:xfrm>
            <a:off x="4743450" y="3268266"/>
            <a:ext cx="394335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0"/>
          <p:cNvSpPr/>
          <p:nvPr/>
        </p:nvSpPr>
        <p:spPr>
          <a:xfrm>
            <a:off x="4743450" y="3268266"/>
            <a:ext cx="28575" cy="571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1"/>
          <p:cNvSpPr/>
          <p:nvPr/>
        </p:nvSpPr>
        <p:spPr>
          <a:xfrm>
            <a:off x="4857750" y="3399041"/>
            <a:ext cx="3786188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Liberação</a:t>
            </a: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da </a:t>
            </a:r>
            <a:r>
              <a:rPr lang="en-US" sz="900" b="1" dirty="0" err="1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Financeira</a:t>
            </a: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 Contabilidade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857750" y="3582591"/>
            <a:ext cx="3786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Foco em análise vs. entrada de dados</a:t>
            </a:r>
            <a:endParaRPr lang="en-US" sz="788" dirty="0"/>
          </a:p>
        </p:txBody>
      </p:sp>
      <p:sp>
        <p:nvSpPr>
          <p:cNvPr id="31" name="Shape 23"/>
          <p:cNvSpPr/>
          <p:nvPr/>
        </p:nvSpPr>
        <p:spPr>
          <a:xfrm>
            <a:off x="4743450" y="3954066"/>
            <a:ext cx="394335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24"/>
          <p:cNvSpPr/>
          <p:nvPr/>
        </p:nvSpPr>
        <p:spPr>
          <a:xfrm>
            <a:off x="4743450" y="3954066"/>
            <a:ext cx="28575" cy="571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5"/>
          <p:cNvSpPr/>
          <p:nvPr/>
        </p:nvSpPr>
        <p:spPr>
          <a:xfrm>
            <a:off x="4857750" y="4068366"/>
            <a:ext cx="3786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Redução de Riscos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4857750" y="4268391"/>
            <a:ext cx="3786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Menor exposição a multas fiscais</a:t>
            </a:r>
            <a:endParaRPr lang="en-US" sz="788" dirty="0"/>
          </a:p>
        </p:txBody>
      </p:sp>
      <p:sp>
        <p:nvSpPr>
          <p:cNvPr id="35" name="Shape 27"/>
          <p:cNvSpPr/>
          <p:nvPr/>
        </p:nvSpPr>
        <p:spPr>
          <a:xfrm>
            <a:off x="4743450" y="4639866"/>
            <a:ext cx="394335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28"/>
          <p:cNvSpPr/>
          <p:nvPr/>
        </p:nvSpPr>
        <p:spPr>
          <a:xfrm>
            <a:off x="4743450" y="4639866"/>
            <a:ext cx="28575" cy="571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7" name="Text 29"/>
          <p:cNvSpPr/>
          <p:nvPr/>
        </p:nvSpPr>
        <p:spPr>
          <a:xfrm>
            <a:off x="4857750" y="4754166"/>
            <a:ext cx="3786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Escalabilidade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4857750" y="4954191"/>
            <a:ext cx="3786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Crescimento sem aumento de custos</a:t>
            </a:r>
            <a:endParaRPr lang="en-US" sz="788" dirty="0"/>
          </a:p>
        </p:txBody>
      </p:sp>
      <p:sp>
        <p:nvSpPr>
          <p:cNvPr id="39" name="Shape 31"/>
          <p:cNvSpPr/>
          <p:nvPr/>
        </p:nvSpPr>
        <p:spPr>
          <a:xfrm>
            <a:off x="4743450" y="5325666"/>
            <a:ext cx="3943350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2"/>
          <p:cNvSpPr/>
          <p:nvPr/>
        </p:nvSpPr>
        <p:spPr>
          <a:xfrm>
            <a:off x="4743450" y="5325666"/>
            <a:ext cx="28575" cy="5715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1" name="Text 33"/>
          <p:cNvSpPr/>
          <p:nvPr/>
        </p:nvSpPr>
        <p:spPr>
          <a:xfrm>
            <a:off x="4857750" y="5439966"/>
            <a:ext cx="37861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Vantagem Competitiva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4857750" y="5639991"/>
            <a:ext cx="37861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Pioneirismo em IA fiscal</a:t>
            </a:r>
            <a:endParaRPr lang="en-US" sz="788" dirty="0"/>
          </a:p>
        </p:txBody>
      </p:sp>
      <p:sp>
        <p:nvSpPr>
          <p:cNvPr id="43" name="Shape 35"/>
          <p:cNvSpPr/>
          <p:nvPr/>
        </p:nvSpPr>
        <p:spPr>
          <a:xfrm>
            <a:off x="2552970" y="6240066"/>
            <a:ext cx="4038033" cy="8286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771" y="6432947"/>
            <a:ext cx="171450" cy="17145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3595371" y="6429375"/>
            <a:ext cx="225323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Impacto Transformacional</a:t>
            </a:r>
            <a:endParaRPr lang="en-US" sz="1350" dirty="0"/>
          </a:p>
        </p:txBody>
      </p:sp>
      <p:sp>
        <p:nvSpPr>
          <p:cNvPr id="46" name="Text 37"/>
          <p:cNvSpPr/>
          <p:nvPr/>
        </p:nvSpPr>
        <p:spPr>
          <a:xfrm>
            <a:off x="2724420" y="6697266"/>
            <a:ext cx="37665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Revolucionar o processamento fiscal brasileiro com IA autônoma</a:t>
            </a:r>
            <a:endParaRPr lang="en-US" sz="101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14017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914" y="457200"/>
            <a:ext cx="385763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897976" y="446484"/>
            <a:ext cx="1919548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Conclusão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457200" y="925116"/>
            <a:ext cx="83010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25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 e Call-to-Action</a:t>
            </a:r>
            <a:endParaRPr lang="en-US" sz="1125" dirty="0"/>
          </a:p>
        </p:txBody>
      </p:sp>
      <p:sp>
        <p:nvSpPr>
          <p:cNvPr id="6" name="Shape 2"/>
          <p:cNvSpPr/>
          <p:nvPr/>
        </p:nvSpPr>
        <p:spPr>
          <a:xfrm>
            <a:off x="457200" y="1410891"/>
            <a:ext cx="3943350" cy="3243263"/>
          </a:xfrm>
          <a:prstGeom prst="rect">
            <a:avLst/>
          </a:prstGeom>
          <a:solidFill>
            <a:srgbClr val="F8FAFC"/>
          </a:solidFill>
          <a:ln w="298">
            <a:solidFill>
              <a:srgbClr val="3B82F6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322" y="1660922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06497" y="1657350"/>
            <a:ext cx="257336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que Agentes Autônomos?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110978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1550" y="2039541"/>
            <a:ext cx="16170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Inteligência Adaptativa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971550" y="2210991"/>
            <a:ext cx="16170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Aprende e evolui automaticamente</a:t>
            </a:r>
            <a:endParaRPr lang="en-US" sz="788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2539603"/>
            <a:ext cx="171450" cy="1714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71550" y="2468166"/>
            <a:ext cx="17115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Comprovado</a:t>
            </a:r>
            <a:endParaRPr lang="en-US" sz="900" dirty="0"/>
          </a:p>
        </p:txBody>
      </p:sp>
      <p:sp>
        <p:nvSpPr>
          <p:cNvPr id="14" name="Text 7"/>
          <p:cNvSpPr/>
          <p:nvPr/>
        </p:nvSpPr>
        <p:spPr>
          <a:xfrm>
            <a:off x="971550" y="2639616"/>
            <a:ext cx="17115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 redução de custos operacionais</a:t>
            </a:r>
            <a:endParaRPr lang="en-US" sz="788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968228"/>
            <a:ext cx="171450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71550" y="2896791"/>
            <a:ext cx="16335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Conformidade Garantida</a:t>
            </a:r>
            <a:endParaRPr lang="en-US" sz="900" dirty="0"/>
          </a:p>
        </p:txBody>
      </p:sp>
      <p:sp>
        <p:nvSpPr>
          <p:cNvPr id="17" name="Text 9"/>
          <p:cNvSpPr/>
          <p:nvPr/>
        </p:nvSpPr>
        <p:spPr>
          <a:xfrm>
            <a:off x="971550" y="3068241"/>
            <a:ext cx="16335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99,9% precisão em validação fiscal</a:t>
            </a:r>
            <a:endParaRPr lang="en-US" sz="788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396853"/>
            <a:ext cx="171450" cy="17145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71550" y="3325416"/>
            <a:ext cx="15778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Pioneirismo</a:t>
            </a:r>
            <a:endParaRPr lang="en-US" sz="900" dirty="0"/>
          </a:p>
        </p:txBody>
      </p:sp>
      <p:sp>
        <p:nvSpPr>
          <p:cNvPr id="20" name="Text 11"/>
          <p:cNvSpPr/>
          <p:nvPr/>
        </p:nvSpPr>
        <p:spPr>
          <a:xfrm>
            <a:off x="971550" y="3496866"/>
            <a:ext cx="15778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Primeira solução brasileira do tipo</a:t>
            </a:r>
            <a:endParaRPr lang="en-US" sz="788" dirty="0"/>
          </a:p>
        </p:txBody>
      </p:sp>
      <p:sp>
        <p:nvSpPr>
          <p:cNvPr id="21" name="Shape 12"/>
          <p:cNvSpPr/>
          <p:nvPr/>
        </p:nvSpPr>
        <p:spPr>
          <a:xfrm>
            <a:off x="685800" y="3811191"/>
            <a:ext cx="3486150" cy="571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3"/>
          <p:cNvSpPr/>
          <p:nvPr/>
        </p:nvSpPr>
        <p:spPr>
          <a:xfrm>
            <a:off x="800100" y="3925491"/>
            <a:ext cx="33289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R$ 2B+ em economia potencial</a:t>
            </a:r>
            <a:endParaRPr lang="en-US" sz="1013" dirty="0"/>
          </a:p>
        </p:txBody>
      </p:sp>
      <p:sp>
        <p:nvSpPr>
          <p:cNvPr id="23" name="Text 14"/>
          <p:cNvSpPr/>
          <p:nvPr/>
        </p:nvSpPr>
        <p:spPr>
          <a:xfrm>
            <a:off x="800100" y="4125516"/>
            <a:ext cx="33289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o mercado brasileiro</a:t>
            </a:r>
            <a:endParaRPr lang="en-US" sz="788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281" y="1432322"/>
            <a:ext cx="192881" cy="17145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15887" y="1428750"/>
            <a:ext cx="1548519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Próximos Passos</a:t>
            </a:r>
            <a:endParaRPr lang="en-US" sz="1350" dirty="0"/>
          </a:p>
        </p:txBody>
      </p:sp>
      <p:sp>
        <p:nvSpPr>
          <p:cNvPr id="26" name="Shape 16"/>
          <p:cNvSpPr/>
          <p:nvPr/>
        </p:nvSpPr>
        <p:spPr>
          <a:xfrm>
            <a:off x="4743450" y="1810941"/>
            <a:ext cx="3943350" cy="542925"/>
          </a:xfrm>
          <a:prstGeom prst="rect">
            <a:avLst/>
          </a:prstGeom>
          <a:solidFill>
            <a:srgbClr val="B3E5FC"/>
          </a:solidFill>
          <a:ln/>
        </p:spPr>
      </p:sp>
      <p:sp>
        <p:nvSpPr>
          <p:cNvPr id="27" name="Shape 17"/>
          <p:cNvSpPr/>
          <p:nvPr/>
        </p:nvSpPr>
        <p:spPr>
          <a:xfrm>
            <a:off x="4743450" y="1810941"/>
            <a:ext cx="28575" cy="542925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8" name="Shape 18"/>
          <p:cNvSpPr/>
          <p:nvPr/>
        </p:nvSpPr>
        <p:spPr>
          <a:xfrm>
            <a:off x="4857750" y="1968103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19"/>
          <p:cNvSpPr/>
          <p:nvPr/>
        </p:nvSpPr>
        <p:spPr>
          <a:xfrm>
            <a:off x="4857750" y="1968103"/>
            <a:ext cx="3000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5200650" y="1925241"/>
            <a:ext cx="16264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Aprovação do Projeto</a:t>
            </a:r>
            <a:endParaRPr lang="en-US" sz="900" dirty="0"/>
          </a:p>
        </p:txBody>
      </p:sp>
      <p:sp>
        <p:nvSpPr>
          <p:cNvPr id="31" name="Text 21"/>
          <p:cNvSpPr/>
          <p:nvPr/>
        </p:nvSpPr>
        <p:spPr>
          <a:xfrm>
            <a:off x="5200650" y="2096691"/>
            <a:ext cx="16264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Validação pela banca examinadora</a:t>
            </a:r>
            <a:endParaRPr lang="en-US" sz="788" dirty="0"/>
          </a:p>
        </p:txBody>
      </p:sp>
      <p:sp>
        <p:nvSpPr>
          <p:cNvPr id="32" name="Shape 22"/>
          <p:cNvSpPr/>
          <p:nvPr/>
        </p:nvSpPr>
        <p:spPr>
          <a:xfrm>
            <a:off x="4743450" y="2525316"/>
            <a:ext cx="3943350" cy="542925"/>
          </a:xfrm>
          <a:prstGeom prst="rect">
            <a:avLst/>
          </a:prstGeom>
          <a:solidFill>
            <a:srgbClr val="B3E5FC"/>
          </a:solidFill>
          <a:ln/>
        </p:spPr>
      </p:sp>
      <p:sp>
        <p:nvSpPr>
          <p:cNvPr id="33" name="Shape 23"/>
          <p:cNvSpPr/>
          <p:nvPr/>
        </p:nvSpPr>
        <p:spPr>
          <a:xfrm>
            <a:off x="4743450" y="2525316"/>
            <a:ext cx="28575" cy="542925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34" name="Shape 24"/>
          <p:cNvSpPr/>
          <p:nvPr/>
        </p:nvSpPr>
        <p:spPr>
          <a:xfrm>
            <a:off x="4857750" y="2682478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25"/>
          <p:cNvSpPr/>
          <p:nvPr/>
        </p:nvSpPr>
        <p:spPr>
          <a:xfrm>
            <a:off x="4857750" y="2682478"/>
            <a:ext cx="3000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5200650" y="2639616"/>
            <a:ext cx="125562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Formação da Equipe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5200650" y="2811066"/>
            <a:ext cx="125562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Especialistas e estudantes</a:t>
            </a:r>
            <a:endParaRPr lang="en-US" sz="788" dirty="0"/>
          </a:p>
        </p:txBody>
      </p:sp>
      <p:sp>
        <p:nvSpPr>
          <p:cNvPr id="38" name="Shape 28"/>
          <p:cNvSpPr/>
          <p:nvPr/>
        </p:nvSpPr>
        <p:spPr>
          <a:xfrm>
            <a:off x="4743450" y="3239691"/>
            <a:ext cx="3943350" cy="542925"/>
          </a:xfrm>
          <a:prstGeom prst="rect">
            <a:avLst/>
          </a:prstGeom>
          <a:solidFill>
            <a:srgbClr val="B3E5FC"/>
          </a:solidFill>
          <a:ln/>
        </p:spPr>
      </p:sp>
      <p:sp>
        <p:nvSpPr>
          <p:cNvPr id="39" name="Shape 29"/>
          <p:cNvSpPr/>
          <p:nvPr/>
        </p:nvSpPr>
        <p:spPr>
          <a:xfrm>
            <a:off x="4743450" y="3239691"/>
            <a:ext cx="28575" cy="542925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40" name="Shape 30"/>
          <p:cNvSpPr/>
          <p:nvPr/>
        </p:nvSpPr>
        <p:spPr>
          <a:xfrm>
            <a:off x="4857750" y="3396853"/>
            <a:ext cx="228600" cy="2286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1" name="Text 31"/>
          <p:cNvSpPr/>
          <p:nvPr/>
        </p:nvSpPr>
        <p:spPr>
          <a:xfrm>
            <a:off x="4857750" y="3396853"/>
            <a:ext cx="3000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5200650" y="3353991"/>
            <a:ext cx="1466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Parcerias Estratégicas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5200650" y="3525441"/>
            <a:ext cx="14668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Empresas piloto para validação</a:t>
            </a:r>
            <a:endParaRPr lang="en-US" sz="788" dirty="0"/>
          </a:p>
        </p:txBody>
      </p:sp>
      <p:sp>
        <p:nvSpPr>
          <p:cNvPr id="44" name="Shape 34"/>
          <p:cNvSpPr/>
          <p:nvPr/>
        </p:nvSpPr>
        <p:spPr>
          <a:xfrm>
            <a:off x="4743450" y="3954066"/>
            <a:ext cx="3943350" cy="542925"/>
          </a:xfrm>
          <a:prstGeom prst="rect">
            <a:avLst/>
          </a:prstGeom>
          <a:solidFill>
            <a:srgbClr val="B3E5FC"/>
          </a:solidFill>
          <a:ln/>
        </p:spPr>
      </p:sp>
      <p:sp>
        <p:nvSpPr>
          <p:cNvPr id="45" name="Shape 35"/>
          <p:cNvSpPr/>
          <p:nvPr/>
        </p:nvSpPr>
        <p:spPr>
          <a:xfrm>
            <a:off x="4743450" y="3954066"/>
            <a:ext cx="28575" cy="542925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46" name="Text 36"/>
          <p:cNvSpPr/>
          <p:nvPr/>
        </p:nvSpPr>
        <p:spPr>
          <a:xfrm>
            <a:off x="4857750" y="4111228"/>
            <a:ext cx="3000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5200650" y="4068366"/>
            <a:ext cx="15194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Início do Desenvolvimento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5200650" y="4239816"/>
            <a:ext cx="151949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8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1: Fundação e arquitetura</a:t>
            </a:r>
            <a:endParaRPr lang="en-US" sz="788" dirty="0"/>
          </a:p>
        </p:txBody>
      </p:sp>
      <p:sp>
        <p:nvSpPr>
          <p:cNvPr id="49" name="Shape 39"/>
          <p:cNvSpPr/>
          <p:nvPr/>
        </p:nvSpPr>
        <p:spPr>
          <a:xfrm>
            <a:off x="2522051" y="4954191"/>
            <a:ext cx="4099871" cy="857250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4951" y="5139928"/>
            <a:ext cx="267891" cy="214313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3218566" y="5134570"/>
            <a:ext cx="313189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Vamos Transformar o Futuro!</a:t>
            </a:r>
            <a:endParaRPr lang="en-US" sz="1688" dirty="0"/>
          </a:p>
        </p:txBody>
      </p:sp>
      <p:sp>
        <p:nvSpPr>
          <p:cNvPr id="52" name="Text 41"/>
          <p:cNvSpPr/>
          <p:nvPr/>
        </p:nvSpPr>
        <p:spPr>
          <a:xfrm>
            <a:off x="2864951" y="5439966"/>
            <a:ext cx="3485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13" dirty="0">
                <a:solidFill>
                  <a:srgbClr val="FFFFFF">
                    <a:alpha val="90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Juntos na revolução da IA fiscal brasileira</a:t>
            </a:r>
            <a:endParaRPr lang="en-US" sz="1013" dirty="0"/>
          </a:p>
        </p:txBody>
      </p:sp>
      <p:sp>
        <p:nvSpPr>
          <p:cNvPr id="53" name="Shape 42"/>
          <p:cNvSpPr/>
          <p:nvPr/>
        </p:nvSpPr>
        <p:spPr>
          <a:xfrm>
            <a:off x="2994682" y="6040041"/>
            <a:ext cx="3154607" cy="600075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66480" y="6184702"/>
            <a:ext cx="128588" cy="12858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3452217" y="6176415"/>
            <a:ext cx="2496713" cy="1558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pt-PT" sz="1013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G</a:t>
            </a:r>
            <a:r>
              <a:rPr lang="en-US" sz="1013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rupo</a:t>
            </a:r>
            <a:r>
              <a:rPr lang="en-US" sz="1013" dirty="0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013" dirty="0" err="1">
                <a:solidFill>
                  <a:srgbClr val="FFFFFF"/>
                </a:solidFill>
                <a:latin typeface="Segoe UI" pitchFamily="34" charset="0"/>
                <a:cs typeface="Segoe UI" pitchFamily="34" charset="-120"/>
              </a:rPr>
              <a:t>Código_B</a:t>
            </a:r>
            <a:endParaRPr lang="en-US" sz="1013" dirty="0"/>
          </a:p>
        </p:txBody>
      </p:sp>
      <p:sp>
        <p:nvSpPr>
          <p:cNvPr id="56" name="Text 44"/>
          <p:cNvSpPr/>
          <p:nvPr/>
        </p:nvSpPr>
        <p:spPr>
          <a:xfrm>
            <a:off x="3108982" y="6382941"/>
            <a:ext cx="29974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788" dirty="0">
                <a:solidFill>
                  <a:srgbClr val="FFFFFF">
                    <a:alpha val="7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Curso: Agentes Autônomos com Redes Generativas • Junho 2025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625</Words>
  <Application>Microsoft Office PowerPoint</Application>
  <PresentationFormat>On-screen Show (16:9)</PresentationFormat>
  <Paragraphs>222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Arsénio Monjane-DS</cp:lastModifiedBy>
  <cp:revision>6</cp:revision>
  <dcterms:created xsi:type="dcterms:W3CDTF">2025-06-09T15:00:23Z</dcterms:created>
  <dcterms:modified xsi:type="dcterms:W3CDTF">2025-11-24T19:42:03Z</dcterms:modified>
</cp:coreProperties>
</file>